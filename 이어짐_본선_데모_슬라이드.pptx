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874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t>이어짐은 현장 상담을 녹음 한 번으로 예비판단부터 상담일지 초안까지 이어주는 AI 상담 도우미입니다.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t>현장 사회복지사는 상담 내용을 종이에 적고 사무실에서 다시 입력합니다. 상담 한 건 평균 22분 가운데 재입력만 12분이 걸렸고, 공적 지원 연계는 39건 중 1건에 그쳤습니다.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t>이어짐은 휴대전화 브라우저에서 바로 사용할 수 있습니다. 대상자 유형을 선택하고 녹음하거나 글로 입력합니다.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t>가상 사례를 입력해 보겠습니다. AI는 비정형 상담 내용에서 위기사유, 거주, 소득, 재산, 건강을 포함한 11개 항목을 구조화합니다.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t>확실한 정보는 자동으로 채우고, 모호한 항목만 상담원에게 확인합니다. 규칙 엔진은 긴급복지 기준과 대조해 가능성과 근거를 함께 보여줍니다.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t>판단에서 끝나지 않습니다. 필요한 의료와 주거 지원, 기관이 즉시 줄 수 있는 물품, 공적 복지 후속조치를 연결합니다.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t>상담 결과는 관공서 제출에 활용할 수 있는 상담일지 초안으로 정리됩니다. 상담원은 확인 후 한글 HWPX 파일로 저장합니다.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t>실명과 주민번호, 상세 주소는 가명화하고 문서에는 빈칸으로 남깁니다. API 키는 서버에만 보관하며, 최종 지원 여부는 담당 기관과 지자체가 결정합니다.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t>도입 전 측정한 상담 시간 22분, 재입력 12분, 연계율 3퍼센트를 기준으로 도입 후 같은 지표를 다시 측정합니다.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t>이어짐은 현장의 말을 기록으로 바꾸고, 기록을 실제 지원으로 연결합니다.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09333DA-C0BD-49E6-96F7-E64A61923F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E8A6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9F3185-C5DE-49D4-85CD-443F799FFE92}"/>
              </a:ext>
            </a:extLst>
          </p:cNvPr>
          <p:cNvSpPr>
            <a:spLocks noGrp="1"/>
          </p:cNvSpPr>
          <p:nvPr/>
        </p:nvSpPr>
        <p:spPr>
          <a:xfrm>
            <a:off x="761969" y="781080"/>
            <a:ext cx="4953030" cy="59436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2050" b="1">
                <a:solidFill>
                  <a:srgbClr val="DDF3EC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050" b="1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lang="ko-KR" altLang="en-US" sz="2050" b="1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긴급복지 상담 도우미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92FD04-57D9-4214-A487-568B36E58E63}"/>
              </a:ext>
            </a:extLst>
          </p:cNvPr>
          <p:cNvSpPr>
            <a:spLocks noGrp="1"/>
          </p:cNvSpPr>
          <p:nvPr/>
        </p:nvSpPr>
        <p:spPr>
          <a:xfrm>
            <a:off x="761969" y="1524030"/>
            <a:ext cx="4762469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6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6150" b="1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이어짐</a:t>
            </a:r>
            <a:endParaRPr lang="ko-KR" altLang="en-US" sz="5700" b="1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929EA9-422F-41B3-88D6-792CE85FE529}"/>
              </a:ext>
            </a:extLst>
          </p:cNvPr>
          <p:cNvSpPr>
            <a:spLocks noGrp="1"/>
          </p:cNvSpPr>
          <p:nvPr/>
        </p:nvSpPr>
        <p:spPr>
          <a:xfrm>
            <a:off x="761969" y="2857500"/>
            <a:ext cx="4983480" cy="16002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2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850" b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녹음</a:t>
            </a:r>
            <a:r>
              <a:rPr lang="ko-KR" altLang="en-US" sz="2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한 </a:t>
            </a:r>
            <a:r>
              <a:rPr lang="ko-KR" altLang="en-US" sz="2850" b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번으로</a:t>
            </a:r>
            <a:r>
              <a:rPr lang="ko-KR" altLang="en-US" sz="2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850" b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예비판단부터</a:t>
            </a:r>
            <a:r>
              <a:rPr lang="ko-KR" altLang="en-US" sz="2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850" b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상담일지</a:t>
            </a:r>
            <a:r>
              <a:rPr lang="ko-KR" altLang="en-US" sz="28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850" b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초안까지</a:t>
            </a:r>
            <a:endParaRPr lang="ko-KR" altLang="en-US" sz="2550" b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024A5E-6F5C-4E1B-82C4-170448E88403}"/>
              </a:ext>
            </a:extLst>
          </p:cNvPr>
          <p:cNvSpPr>
            <a:spLocks noGrp="1"/>
          </p:cNvSpPr>
          <p:nvPr/>
        </p:nvSpPr>
        <p:spPr>
          <a:xfrm>
            <a:off x="581924" y="5219669"/>
            <a:ext cx="5715000" cy="77724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850" b="0">
                <a:solidFill>
                  <a:srgbClr val="DDF3EC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50" b="0" err="1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현장의</a:t>
            </a:r>
            <a:r>
              <a:rPr lang="ko-KR" altLang="en-US" sz="1850" b="0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 말 → </a:t>
            </a:r>
            <a:r>
              <a:rPr lang="ko-KR" altLang="en-US" sz="1850" b="0" err="1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예비판단</a:t>
            </a:r>
            <a:r>
              <a:rPr lang="ko-KR" altLang="en-US" sz="1850" b="0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lang="ko-KR" altLang="en-US" sz="1850" b="0" err="1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지원</a:t>
            </a:r>
            <a:r>
              <a:rPr lang="ko-KR" altLang="en-US" sz="1850" b="0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850" b="0" err="1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연계</a:t>
            </a:r>
            <a:r>
              <a:rPr lang="ko-KR" altLang="en-US" sz="1850" b="0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lang="ko-KR" altLang="en-US" sz="1850" b="0" err="1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상담일지</a:t>
            </a:r>
            <a:endParaRPr lang="ko-KR" altLang="en-US" b="0">
              <a:solidFill>
                <a:srgbClr val="DDF3EC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788E7E-6F52-3EC6-0221-BEDF95431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050" y="129309"/>
            <a:ext cx="3545645" cy="653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19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DBEAC4-1BEF-44A1-9030-A6D7B29703A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01  현장 문제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A4752CF-ED9F-4A07-A962-CEEEA05F1025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3150" b="1">
                <a:solidFill>
                  <a:srgbClr val="0C344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C3440"/>
                </a:solidFill>
                <a:latin typeface="Malgun Gothic"/>
                <a:ea typeface="Malgun Gothic"/>
                <a:cs typeface="Malgun Gothic"/>
              </a:rPr>
              <a:t>현장 상담 뒤 같은 내용을 다시 기록합니다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52BA994-8B46-44C3-BD10-1EB7ACDF1AC5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3276600" cy="2247900"/>
          </a:xfrm>
          <a:prstGeom prst="roundRect">
            <a:avLst>
              <a:gd name="adj" fmla="val 3390"/>
            </a:avLst>
          </a:prstGeom>
          <a:solidFill>
            <a:srgbClr val="DDF3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1046F0-7C66-45A5-83B2-07FD64D16D20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27432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650" b="1">
                <a:solidFill>
                  <a:srgbClr val="1E8A64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E8A64"/>
                </a:solidFill>
                <a:latin typeface="Malgun Gothic"/>
                <a:ea typeface="Malgun Gothic"/>
                <a:cs typeface="Malgun Gothic"/>
              </a:rPr>
              <a:t>22분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584E5A-2C08-4729-834D-3F5C7A10F3FE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27432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112D3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2D36"/>
                </a:solidFill>
                <a:latin typeface="Malgun Gothic"/>
                <a:ea typeface="Malgun Gothic"/>
                <a:cs typeface="Malgun Gothic"/>
              </a:rPr>
              <a:t>상담 1건 평균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32B02F1-D5B2-4D59-830E-16E88F061B9B}"/>
              </a:ext>
            </a:extLst>
          </p:cNvPr>
          <p:cNvSpPr>
            <a:spLocks noGrp="1"/>
          </p:cNvSpPr>
          <p:nvPr/>
        </p:nvSpPr>
        <p:spPr>
          <a:xfrm>
            <a:off x="4343400" y="2419350"/>
            <a:ext cx="3276600" cy="2247900"/>
          </a:xfrm>
          <a:prstGeom prst="roundRect">
            <a:avLst>
              <a:gd name="adj" fmla="val 3390"/>
            </a:avLst>
          </a:prstGeom>
          <a:solidFill>
            <a:srgbClr val="EA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BF241A-3B8C-4FCA-87F5-9388ACC94875}"/>
              </a:ext>
            </a:extLst>
          </p:cNvPr>
          <p:cNvSpPr>
            <a:spLocks noGrp="1"/>
          </p:cNvSpPr>
          <p:nvPr/>
        </p:nvSpPr>
        <p:spPr>
          <a:xfrm>
            <a:off x="4610100" y="2667000"/>
            <a:ext cx="27432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65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12분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0D6E41-22AD-4749-862D-3B6AC76806DA}"/>
              </a:ext>
            </a:extLst>
          </p:cNvPr>
          <p:cNvSpPr>
            <a:spLocks noGrp="1"/>
          </p:cNvSpPr>
          <p:nvPr/>
        </p:nvSpPr>
        <p:spPr>
          <a:xfrm>
            <a:off x="4610100" y="3638550"/>
            <a:ext cx="27432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112D3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2D36"/>
                </a:solidFill>
                <a:latin typeface="Malgun Gothic"/>
                <a:ea typeface="Malgun Gothic"/>
                <a:cs typeface="Malgun Gothic"/>
              </a:rPr>
              <a:t>같은 내용 재입력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018E419-F488-4536-B8E5-990A468D4E4B}"/>
              </a:ext>
            </a:extLst>
          </p:cNvPr>
          <p:cNvSpPr>
            <a:spLocks noGrp="1"/>
          </p:cNvSpPr>
          <p:nvPr/>
        </p:nvSpPr>
        <p:spPr>
          <a:xfrm>
            <a:off x="8077200" y="2419350"/>
            <a:ext cx="3276600" cy="2247900"/>
          </a:xfrm>
          <a:prstGeom prst="roundRect">
            <a:avLst>
              <a:gd name="adj" fmla="val 3390"/>
            </a:avLst>
          </a:prstGeom>
          <a:solidFill>
            <a:srgbClr val="DDF3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616FC9-8F55-484C-9DD8-D65B6197E370}"/>
              </a:ext>
            </a:extLst>
          </p:cNvPr>
          <p:cNvSpPr>
            <a:spLocks noGrp="1"/>
          </p:cNvSpPr>
          <p:nvPr/>
        </p:nvSpPr>
        <p:spPr>
          <a:xfrm>
            <a:off x="8343900" y="2667000"/>
            <a:ext cx="27432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4650" b="1">
                <a:solidFill>
                  <a:srgbClr val="1E8A64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E8A64"/>
                </a:solidFill>
                <a:latin typeface="Malgun Gothic"/>
                <a:ea typeface="Malgun Gothic"/>
                <a:cs typeface="Malgun Gothic"/>
              </a:rPr>
              <a:t>약 3%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670DBF-E14F-4896-87F7-F59291D85B8D}"/>
              </a:ext>
            </a:extLst>
          </p:cNvPr>
          <p:cNvSpPr>
            <a:spLocks noGrp="1"/>
          </p:cNvSpPr>
          <p:nvPr/>
        </p:nvSpPr>
        <p:spPr>
          <a:xfrm>
            <a:off x="8343900" y="3638550"/>
            <a:ext cx="27432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800" b="1">
                <a:solidFill>
                  <a:srgbClr val="112D3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2D36"/>
                </a:solidFill>
                <a:latin typeface="Malgun Gothic"/>
                <a:ea typeface="Malgun Gothic"/>
                <a:cs typeface="Malgun Gothic"/>
              </a:rPr>
              <a:t>공적 지원 연계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756F01-15AE-4F7C-9CB7-B537E2A46620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650" b="0">
                <a:solidFill>
                  <a:srgbClr val="5B747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747C"/>
                </a:solidFill>
                <a:latin typeface="Malgun Gothic"/>
                <a:ea typeface="Malgun Gothic"/>
                <a:cs typeface="Malgun Gothic"/>
              </a:rPr>
              <a:t>도입 전 39건을 기준으로 측정</a:t>
            </a:r>
          </a:p>
        </p:txBody>
      </p:sp>
    </p:spTree>
    <p:extLst>
      <p:ext uri="{BB962C8B-B14F-4D97-AF65-F5344CB8AC3E}">
        <p14:creationId xmlns:p14="http://schemas.microsoft.com/office/powerpoint/2010/main" val="239438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9D1E540-6793-49A1-9F0F-D6F8528E8B8E}"/>
              </a:ext>
            </a:extLst>
          </p:cNvPr>
          <p:cNvSpPr>
            <a:spLocks noGrp="1"/>
          </p:cNvSpPr>
          <p:nvPr/>
        </p:nvSpPr>
        <p:spPr>
          <a:xfrm>
            <a:off x="609630" y="419069"/>
            <a:ext cx="3429000" cy="38103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02</a:t>
            </a:r>
            <a:r>
              <a:rPr sz="1500" b="1" dirty="0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  </a:t>
            </a:r>
            <a:r>
              <a:rPr sz="1500" b="1" dirty="0" err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500" b="1" dirty="0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서비스</a:t>
            </a:r>
            <a:r>
              <a:rPr sz="1500" b="1" dirty="0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 dirty="0" err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시연</a:t>
            </a:r>
            <a:endParaRPr sz="1500" b="1" dirty="0">
              <a:solidFill>
                <a:srgbClr val="137D9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44F5AA-B107-4427-8731-2A8D480311A9}"/>
              </a:ext>
            </a:extLst>
          </p:cNvPr>
          <p:cNvSpPr>
            <a:spLocks noGrp="1"/>
          </p:cNvSpPr>
          <p:nvPr/>
        </p:nvSpPr>
        <p:spPr>
          <a:xfrm>
            <a:off x="609630" y="990569"/>
            <a:ext cx="5303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3150" b="1">
                <a:solidFill>
                  <a:srgbClr val="0C344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150" b="1">
                <a:solidFill>
                  <a:srgbClr val="0C3440"/>
                </a:solidFill>
                <a:latin typeface="Malgun Gothic"/>
              </a:rPr>
              <a:t>현장에서 바로 시작</a:t>
            </a:r>
            <a:endParaRPr sz="3150" b="1" dirty="0">
              <a:solidFill>
                <a:srgbClr val="0C344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6D8321-35BB-4B97-B96B-8409564DB2F5}"/>
              </a:ext>
            </a:extLst>
          </p:cNvPr>
          <p:cNvSpPr>
            <a:spLocks noGrp="1"/>
          </p:cNvSpPr>
          <p:nvPr/>
        </p:nvSpPr>
        <p:spPr>
          <a:xfrm>
            <a:off x="609630" y="2514600"/>
            <a:ext cx="4983480" cy="233172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800" b="0">
                <a:solidFill>
                  <a:srgbClr val="5B747C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휴대전화에서 대상자 유형을</a:t>
            </a:r>
            <a:br>
              <a:rPr lang="ko-KR" altLang="en-US"/>
            </a:b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선택하고 상황을 녹음하거나</a:t>
            </a:r>
            <a:br>
              <a:rPr lang="ko-KR" altLang="en-US"/>
            </a:b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글로 입력합니다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33E068-D9C8-4288-950F-BF0F86B91C81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2667000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75" b="1">
                <a:solidFill>
                  <a:srgbClr val="112D36"/>
                </a:solidFill>
                <a:latin typeface="Malgun Gothic"/>
                <a:ea typeface="Malgun Gothic"/>
                <a:cs typeface="Malgun Gothic"/>
              </a:defRPr>
            </a:pPr>
            <a:endParaRPr sz="1575" b="1" dirty="0">
              <a:solidFill>
                <a:srgbClr val="112D3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099B1FE-E4A4-B346-9394-71E2877D0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" b="357"/>
          <a:stretch>
            <a:fillRect/>
          </a:stretch>
        </p:blipFill>
        <p:spPr>
          <a:xfrm>
            <a:off x="6583680" y="137160"/>
            <a:ext cx="3600450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5DFDFF7-D801-40A4-9719-1112D1F95B96}"/>
              </a:ext>
            </a:extLst>
          </p:cNvPr>
          <p:cNvSpPr>
            <a:spLocks noGrp="1"/>
          </p:cNvSpPr>
          <p:nvPr/>
        </p:nvSpPr>
        <p:spPr>
          <a:xfrm>
            <a:off x="609630" y="419069"/>
            <a:ext cx="3429000" cy="38103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03</a:t>
            </a:r>
            <a:r>
              <a: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  실제 서비스 시연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34BA401-7811-46B2-889C-8BC3DCB7D58C}"/>
              </a:ext>
            </a:extLst>
          </p:cNvPr>
          <p:cNvSpPr>
            <a:spLocks noGrp="1"/>
          </p:cNvSpPr>
          <p:nvPr/>
        </p:nvSpPr>
        <p:spPr>
          <a:xfrm>
            <a:off x="609630" y="990569"/>
            <a:ext cx="5303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3150" b="1">
                <a:solidFill>
                  <a:srgbClr val="0C344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150" b="1">
                <a:solidFill>
                  <a:srgbClr val="0C3440"/>
                </a:solidFill>
                <a:latin typeface="Malgun Gothic"/>
              </a:rPr>
              <a:t>실제 사례를 한 번에 입력</a:t>
            </a:r>
            <a:endParaRPr sz="3150" b="1" dirty="0">
              <a:solidFill>
                <a:srgbClr val="0C344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3959E05-8412-456A-8A53-EF2A79825158}"/>
              </a:ext>
            </a:extLst>
          </p:cNvPr>
          <p:cNvSpPr>
            <a:spLocks noGrp="1"/>
          </p:cNvSpPr>
          <p:nvPr/>
        </p:nvSpPr>
        <p:spPr>
          <a:xfrm>
            <a:off x="609630" y="2514600"/>
            <a:ext cx="4983480" cy="233172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800" b="0">
                <a:solidFill>
                  <a:srgbClr val="5B747C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AI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가 대화에서 위기사유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,</a:t>
            </a:r>
            <a:br>
              <a:rPr lang="ko-KR" altLang="en-US"/>
            </a:b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거주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, 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소득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, 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재산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, 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건강 등</a:t>
            </a:r>
            <a:br>
              <a:rPr lang="ko-KR" altLang="en-US"/>
            </a:b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11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개 항목을 구조화합니다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EC6BBC-678F-485D-92C6-063F3BE3692C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2667000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75" b="1">
                <a:solidFill>
                  <a:srgbClr val="112D36"/>
                </a:solidFill>
                <a:latin typeface="Malgun Gothic"/>
                <a:ea typeface="Malgun Gothic"/>
                <a:cs typeface="Malgun Gothic"/>
              </a:defRPr>
            </a:pPr>
            <a:endParaRPr sz="1575" b="1" dirty="0">
              <a:solidFill>
                <a:srgbClr val="112D3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D66F9EB-A59D-F876-4AF0-7DCD883CE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" b="536"/>
          <a:stretch>
            <a:fillRect/>
          </a:stretch>
        </p:blipFill>
        <p:spPr>
          <a:xfrm>
            <a:off x="6583680" y="137160"/>
            <a:ext cx="3600450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3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7B40CA0-4C27-4DE3-8630-28A01F88F922}"/>
              </a:ext>
            </a:extLst>
          </p:cNvPr>
          <p:cNvSpPr>
            <a:spLocks noGrp="1"/>
          </p:cNvSpPr>
          <p:nvPr/>
        </p:nvSpPr>
        <p:spPr>
          <a:xfrm>
            <a:off x="609630" y="419069"/>
            <a:ext cx="3429000" cy="38103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04</a:t>
            </a:r>
            <a:r>
              <a: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  실제 서비스 시연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0A7AE0-F8F5-4DC8-B82C-DF7987A4563D}"/>
              </a:ext>
            </a:extLst>
          </p:cNvPr>
          <p:cNvSpPr>
            <a:spLocks noGrp="1"/>
          </p:cNvSpPr>
          <p:nvPr/>
        </p:nvSpPr>
        <p:spPr>
          <a:xfrm>
            <a:off x="609630" y="990569"/>
            <a:ext cx="5303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3150" b="1">
                <a:solidFill>
                  <a:srgbClr val="0C344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150" b="1">
                <a:solidFill>
                  <a:srgbClr val="0C3440"/>
                </a:solidFill>
                <a:latin typeface="Malgun Gothic"/>
              </a:rPr>
              <a:t>근거가 보이는 예비판단</a:t>
            </a:r>
            <a:endParaRPr sz="3150" b="1" dirty="0">
              <a:solidFill>
                <a:srgbClr val="0C344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11459F-6550-46F1-B1FA-55C7A1A84875}"/>
              </a:ext>
            </a:extLst>
          </p:cNvPr>
          <p:cNvSpPr>
            <a:spLocks noGrp="1"/>
          </p:cNvSpPr>
          <p:nvPr/>
        </p:nvSpPr>
        <p:spPr>
          <a:xfrm>
            <a:off x="609630" y="2514600"/>
            <a:ext cx="4983480" cy="233172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800" b="0">
                <a:solidFill>
                  <a:srgbClr val="5B747C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규칙엔진이 소득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·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재산 기준을</a:t>
            </a:r>
            <a:br>
              <a:rPr lang="ko-KR" altLang="en-US"/>
            </a:b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대조하고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, 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확인이 필요한 항목은</a:t>
            </a:r>
            <a:br>
              <a:rPr lang="ko-KR" altLang="en-US"/>
            </a:b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상담원에게 다시 요청합니다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0C3893-481A-4D8B-AA96-ECE07B606C7A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2667000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75" b="1">
                <a:solidFill>
                  <a:srgbClr val="112D36"/>
                </a:solidFill>
                <a:latin typeface="Malgun Gothic"/>
                <a:ea typeface="Malgun Gothic"/>
                <a:cs typeface="Malgun Gothic"/>
              </a:defRPr>
            </a:pPr>
            <a:endParaRPr sz="1575" b="1" dirty="0">
              <a:solidFill>
                <a:srgbClr val="112D3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2DC881C-729D-AA28-47FE-7C0740330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r="178"/>
          <a:stretch>
            <a:fillRect/>
          </a:stretch>
        </p:blipFill>
        <p:spPr>
          <a:xfrm>
            <a:off x="6583680" y="137160"/>
            <a:ext cx="3600450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1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F71FA6-75BD-4184-8C0B-460E80083AA9}"/>
              </a:ext>
            </a:extLst>
          </p:cNvPr>
          <p:cNvSpPr>
            <a:spLocks noGrp="1"/>
          </p:cNvSpPr>
          <p:nvPr/>
        </p:nvSpPr>
        <p:spPr>
          <a:xfrm>
            <a:off x="609630" y="419069"/>
            <a:ext cx="3429000" cy="38103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05</a:t>
            </a:r>
            <a:r>
              <a: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  실제 서비스 시연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456A49-FE84-4821-8AF2-27528976C3D6}"/>
              </a:ext>
            </a:extLst>
          </p:cNvPr>
          <p:cNvSpPr>
            <a:spLocks noGrp="1"/>
          </p:cNvSpPr>
          <p:nvPr/>
        </p:nvSpPr>
        <p:spPr>
          <a:xfrm>
            <a:off x="609630" y="990569"/>
            <a:ext cx="5303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3150" b="1">
                <a:solidFill>
                  <a:srgbClr val="0C344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150" b="1">
                <a:solidFill>
                  <a:srgbClr val="0C3440"/>
                </a:solidFill>
                <a:latin typeface="Malgun Gothic"/>
              </a:rPr>
              <a:t>판단에서 지원까지 연결</a:t>
            </a:r>
            <a:endParaRPr sz="3150" b="1" dirty="0">
              <a:solidFill>
                <a:srgbClr val="0C344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951226-3D9F-449C-B7B1-AC051CBA5ABD}"/>
              </a:ext>
            </a:extLst>
          </p:cNvPr>
          <p:cNvSpPr>
            <a:spLocks noGrp="1"/>
          </p:cNvSpPr>
          <p:nvPr/>
        </p:nvSpPr>
        <p:spPr>
          <a:xfrm>
            <a:off x="609630" y="2514600"/>
            <a:ext cx="4983480" cy="233172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800" b="0">
                <a:solidFill>
                  <a:srgbClr val="5B747C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의료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·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주거 지원과 기관 자체지원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,</a:t>
            </a:r>
            <a:br>
              <a:rPr lang="ko-KR" altLang="en-US"/>
            </a:b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긴급성 기반 후속조치를</a:t>
            </a:r>
            <a:br>
              <a:rPr lang="ko-KR" altLang="en-US"/>
            </a:b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한 화면에서 안내합니다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EBFFCB-364F-4932-9DE6-939C9D0ED305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2667000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75" b="1">
                <a:solidFill>
                  <a:srgbClr val="112D36"/>
                </a:solidFill>
                <a:latin typeface="Malgun Gothic"/>
                <a:ea typeface="Malgun Gothic"/>
                <a:cs typeface="Malgun Gothic"/>
              </a:defRPr>
            </a:pPr>
            <a:endParaRPr sz="1575" b="1" dirty="0">
              <a:solidFill>
                <a:srgbClr val="112D3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72EE4A-14CE-38D5-8B09-B55AE341C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r="178"/>
          <a:stretch>
            <a:fillRect/>
          </a:stretch>
        </p:blipFill>
        <p:spPr>
          <a:xfrm>
            <a:off x="6583680" y="137160"/>
            <a:ext cx="3600450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67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322FCC1-105E-4C69-8FFF-602D86C04CDE}"/>
              </a:ext>
            </a:extLst>
          </p:cNvPr>
          <p:cNvSpPr>
            <a:spLocks noGrp="1"/>
          </p:cNvSpPr>
          <p:nvPr/>
        </p:nvSpPr>
        <p:spPr>
          <a:xfrm>
            <a:off x="609630" y="419069"/>
            <a:ext cx="3429000" cy="38103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06</a:t>
            </a:r>
            <a:r>
              <a: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  실제 서비스 시연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22399F-0B10-4EE0-9DEC-119E034253A3}"/>
              </a:ext>
            </a:extLst>
          </p:cNvPr>
          <p:cNvSpPr>
            <a:spLocks noGrp="1"/>
          </p:cNvSpPr>
          <p:nvPr/>
        </p:nvSpPr>
        <p:spPr>
          <a:xfrm>
            <a:off x="609630" y="990569"/>
            <a:ext cx="5303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3150" b="1">
                <a:solidFill>
                  <a:srgbClr val="0C344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150" b="1">
                <a:solidFill>
                  <a:srgbClr val="0C3440"/>
                </a:solidFill>
                <a:latin typeface="Malgun Gothic"/>
              </a:rPr>
              <a:t>상담일지 초안 자동 완성</a:t>
            </a:r>
            <a:endParaRPr sz="3150" b="1" dirty="0">
              <a:solidFill>
                <a:srgbClr val="0C344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67F4DA-D0CC-49CE-B483-9B78E2999759}"/>
              </a:ext>
            </a:extLst>
          </p:cNvPr>
          <p:cNvSpPr>
            <a:spLocks noGrp="1"/>
          </p:cNvSpPr>
          <p:nvPr/>
        </p:nvSpPr>
        <p:spPr>
          <a:xfrm>
            <a:off x="609630" y="2514600"/>
            <a:ext cx="4983480" cy="233172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800" b="0">
                <a:solidFill>
                  <a:srgbClr val="5B747C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확인된 정보를 관공서 제출에</a:t>
            </a:r>
            <a:br>
              <a:rPr lang="ko-KR" altLang="en-US"/>
            </a:b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활용할 상담일지로 정리하고</a:t>
            </a:r>
            <a:br>
              <a:rPr lang="ko-KR" altLang="en-US"/>
            </a:b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한글 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HWPX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로 저장합니다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CBF1F2-796B-4CAB-881C-4AC1C5961A88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2667000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75" b="1">
                <a:solidFill>
                  <a:srgbClr val="112D36"/>
                </a:solidFill>
                <a:latin typeface="Malgun Gothic"/>
                <a:ea typeface="Malgun Gothic"/>
                <a:cs typeface="Malgun Gothic"/>
              </a:defRPr>
            </a:pPr>
            <a:endParaRPr sz="1575" b="1" dirty="0">
              <a:solidFill>
                <a:srgbClr val="112D3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7A1286E-BAFF-22DC-6055-AE26296EC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3680" y="137160"/>
            <a:ext cx="3600450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71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479B79E-21C5-41ED-BDEF-3E20FBED3626}"/>
              </a:ext>
            </a:extLst>
          </p:cNvPr>
          <p:cNvSpPr>
            <a:spLocks noGrp="1"/>
          </p:cNvSpPr>
          <p:nvPr/>
        </p:nvSpPr>
        <p:spPr>
          <a:xfrm>
            <a:off x="609630" y="419069"/>
            <a:ext cx="3429000" cy="38103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07</a:t>
            </a:r>
            <a:r>
              <a:rPr sz="1500" b="1">
                <a:solidFill>
                  <a:srgbClr val="137D92"/>
                </a:solidFill>
                <a:latin typeface="Malgun Gothic"/>
                <a:ea typeface="Malgun Gothic"/>
                <a:cs typeface="Malgun Gothic"/>
              </a:rPr>
              <a:t>  실제 서비스 시연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562113-D860-415E-8B9E-D2FED583F344}"/>
              </a:ext>
            </a:extLst>
          </p:cNvPr>
          <p:cNvSpPr>
            <a:spLocks noGrp="1"/>
          </p:cNvSpPr>
          <p:nvPr/>
        </p:nvSpPr>
        <p:spPr>
          <a:xfrm>
            <a:off x="609630" y="990569"/>
            <a:ext cx="597405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3150" b="1">
                <a:solidFill>
                  <a:srgbClr val="0C344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150" b="1" dirty="0">
                <a:solidFill>
                  <a:srgbClr val="0C3440"/>
                </a:solidFill>
                <a:latin typeface="Malgun Gothic"/>
              </a:rPr>
              <a:t>개인정보를 남기지 않는 흐름</a:t>
            </a:r>
            <a:endParaRPr sz="3150" b="1" dirty="0">
              <a:solidFill>
                <a:srgbClr val="0C344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580143-8C1B-4D4C-9947-87C15D8B7F8D}"/>
              </a:ext>
            </a:extLst>
          </p:cNvPr>
          <p:cNvSpPr>
            <a:spLocks noGrp="1"/>
          </p:cNvSpPr>
          <p:nvPr/>
        </p:nvSpPr>
        <p:spPr>
          <a:xfrm>
            <a:off x="609630" y="2514600"/>
            <a:ext cx="4983480" cy="233172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800" b="0">
                <a:solidFill>
                  <a:srgbClr val="5B747C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실명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·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주민번호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·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상세 주소는</a:t>
            </a:r>
            <a:br>
              <a:rPr lang="ko-KR" altLang="en-US"/>
            </a:b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가명화하고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, API 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키는 서버에서</a:t>
            </a:r>
            <a:br>
              <a:rPr lang="ko-KR" altLang="en-US"/>
            </a:b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관리합니다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. </a:t>
            </a: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최종 지원 여부는</a:t>
            </a:r>
            <a:br>
              <a:rPr lang="ko-KR" altLang="en-US"/>
            </a:br>
            <a:r>
              <a:rPr lang="ko-KR" altLang="en-US" sz="2400" b="0">
                <a:solidFill>
                  <a:srgbClr val="5B747C"/>
                </a:solidFill>
                <a:latin typeface="Malgun Gothic"/>
              </a:rPr>
              <a:t>지자체가 결정합니다</a:t>
            </a:r>
            <a:r>
              <a:rPr lang="en-US" altLang="ko-KR" sz="2400" b="0">
                <a:solidFill>
                  <a:srgbClr val="5B747C"/>
                </a:solidFill>
                <a:latin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2B96AB-0431-4D9D-A759-1F511380FBBC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2667000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75" b="1">
                <a:solidFill>
                  <a:srgbClr val="112D36"/>
                </a:solidFill>
                <a:latin typeface="Malgun Gothic"/>
                <a:ea typeface="Malgun Gothic"/>
                <a:cs typeface="Malgun Gothic"/>
              </a:defRPr>
            </a:pPr>
            <a:endParaRPr sz="1575" b="1" dirty="0">
              <a:solidFill>
                <a:srgbClr val="112D36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44B98CA-56AC-2902-5AF0-36B58296A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r="178"/>
          <a:stretch>
            <a:fillRect/>
          </a:stretch>
        </p:blipFill>
        <p:spPr>
          <a:xfrm>
            <a:off x="6583680" y="137160"/>
            <a:ext cx="3600450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2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EF57776-81DE-4C21-A8B2-ACD197061E3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650" b="1">
                <a:solidFill>
                  <a:srgbClr val="DDF3EC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1650" b="1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08  </a:t>
            </a:r>
            <a:r>
              <a:rPr lang="ko-KR" altLang="en-US" sz="1650" b="1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임팩트 측정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13540C-02CD-45DE-B117-3F1B1B6DB578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668000" cy="7810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3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도입 전 기준으로 변화 측정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CC09B9-B98E-4E22-A067-1EA743D480AC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2350" b="1">
                <a:solidFill>
                  <a:srgbClr val="DDF3EC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350" b="1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도입 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74965E-C861-4F76-9299-F71BAE5240BF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3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상담 </a:t>
            </a:r>
            <a:r>
              <a:rPr lang="en-US" altLang="ko-KR" sz="3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22</a:t>
            </a:r>
            <a:r>
              <a:rPr lang="ko-KR" altLang="en-US" sz="3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   </a:t>
            </a:r>
            <a:r>
              <a:rPr lang="en-US" altLang="ko-KR" sz="3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·   </a:t>
            </a:r>
            <a:r>
              <a:rPr lang="ko-KR" altLang="en-US" sz="3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재입력 </a:t>
            </a:r>
            <a:r>
              <a:rPr lang="en-US" altLang="ko-KR" sz="3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</a:t>
            </a:r>
            <a:r>
              <a:rPr lang="ko-KR" altLang="en-US" sz="3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   </a:t>
            </a:r>
            <a:r>
              <a:rPr lang="en-US" altLang="ko-KR" sz="3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·   </a:t>
            </a:r>
            <a:r>
              <a:rPr lang="ko-KR" altLang="en-US" sz="3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연계율 </a:t>
            </a:r>
            <a:r>
              <a:rPr lang="en-US" altLang="ko-KR" sz="3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3%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B31403-9913-41DE-BD9C-69F1C2CF8B86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10572750" cy="19050"/>
          </a:xfrm>
          <a:prstGeom prst="rect">
            <a:avLst/>
          </a:prstGeom>
          <a:solidFill>
            <a:srgbClr val="1E8A6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181F07-63D7-4DD7-94FD-E6A4E3B6D8F6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2350" b="0">
                <a:solidFill>
                  <a:srgbClr val="DDF3EC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350" b="0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도입 후에도 같은 정의</a:t>
            </a:r>
            <a:r>
              <a:rPr lang="en-US" altLang="ko-KR" sz="2350" b="0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lang="ko-KR" altLang="en-US" sz="2350" b="0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같은 방식으로 다시 측정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592D53-3991-48C8-AE4E-70DA0E600A39}"/>
              </a:ext>
            </a:extLst>
          </p:cNvPr>
          <p:cNvSpPr>
            <a:spLocks noGrp="1"/>
          </p:cNvSpPr>
          <p:nvPr/>
        </p:nvSpPr>
        <p:spPr>
          <a:xfrm>
            <a:off x="781050" y="5638800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2000" b="1">
                <a:solidFill>
                  <a:srgbClr val="F3B64A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000" b="1">
                <a:solidFill>
                  <a:srgbClr val="F3B64A"/>
                </a:solidFill>
                <a:latin typeface="Malgun Gothic"/>
                <a:ea typeface="Malgun Gothic"/>
                <a:cs typeface="Malgun Gothic"/>
              </a:rPr>
              <a:t>목표</a:t>
            </a:r>
            <a:r>
              <a:rPr lang="en-US" altLang="ko-KR" sz="2000" b="1">
                <a:solidFill>
                  <a:srgbClr val="F3B64A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lang="ko-KR" altLang="en-US" sz="2000" b="1">
                <a:solidFill>
                  <a:srgbClr val="F3B64A"/>
                </a:solidFill>
                <a:latin typeface="Malgun Gothic"/>
                <a:ea typeface="Malgun Gothic"/>
                <a:cs typeface="Malgun Gothic"/>
              </a:rPr>
              <a:t>기록 부담은 낮추고</a:t>
            </a:r>
            <a:r>
              <a:rPr lang="en-US" altLang="ko-KR" sz="2000" b="1">
                <a:solidFill>
                  <a:srgbClr val="F3B64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2000" b="1">
                <a:solidFill>
                  <a:srgbClr val="F3B64A"/>
                </a:solidFill>
                <a:latin typeface="Malgun Gothic"/>
                <a:ea typeface="Malgun Gothic"/>
                <a:cs typeface="Malgun Gothic"/>
              </a:rPr>
              <a:t>실제 지원 연결은 높이기</a:t>
            </a:r>
          </a:p>
        </p:txBody>
      </p:sp>
    </p:spTree>
    <p:extLst>
      <p:ext uri="{BB962C8B-B14F-4D97-AF65-F5344CB8AC3E}">
        <p14:creationId xmlns:p14="http://schemas.microsoft.com/office/powerpoint/2010/main" val="6732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5E849D0-B783-417B-AED8-951E2AAA0E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E8A64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02EDA5-0EE2-44C7-A651-303CCEE83410}"/>
              </a:ext>
            </a:extLst>
          </p:cNvPr>
          <p:cNvSpPr>
            <a:spLocks noGrp="1"/>
          </p:cNvSpPr>
          <p:nvPr/>
        </p:nvSpPr>
        <p:spPr>
          <a:xfrm>
            <a:off x="762000" y="10477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 lnSpcReduction="10000"/>
          </a:bodyPr>
          <a:lstStyle/>
          <a:p>
            <a:pPr>
              <a:def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이어짐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662477-4E1F-4926-A3C4-73A2A72AE556}"/>
              </a:ext>
            </a:extLst>
          </p:cNvPr>
          <p:cNvSpPr>
            <a:spLocks noGrp="1"/>
          </p:cNvSpPr>
          <p:nvPr/>
        </p:nvSpPr>
        <p:spPr>
          <a:xfrm>
            <a:off x="1428750" y="2381250"/>
            <a:ext cx="9334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3500" b="1">
                <a:solidFill>
                  <a:srgbClr val="DDF3EC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3500" b="1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현장의 말을 실제 지원으로 이어줍니다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B3AC44-72CB-491E-8FF5-7B04D6E3D08D}"/>
              </a:ext>
            </a:extLst>
          </p:cNvPr>
          <p:cNvSpPr>
            <a:spLocks noGrp="1"/>
          </p:cNvSpPr>
          <p:nvPr/>
        </p:nvSpPr>
        <p:spPr>
          <a:xfrm>
            <a:off x="1809750" y="4095750"/>
            <a:ext cx="8572500" cy="60960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사단법인 인천내일을여는집 </a:t>
            </a:r>
            <a:r>
              <a:rPr lang="en-US" altLang="ko-KR"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× AI </a:t>
            </a:r>
            <a:r>
              <a:rPr lang="ko-KR" altLang="en-US"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챌린지 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AE8B6A-6A90-4421-93C7-668AA4FFA30D}"/>
              </a:ext>
            </a:extLst>
          </p:cNvPr>
          <p:cNvSpPr>
            <a:spLocks noGrp="1"/>
          </p:cNvSpPr>
          <p:nvPr/>
        </p:nvSpPr>
        <p:spPr>
          <a:xfrm>
            <a:off x="1809750" y="533400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rmAutofit/>
          </a:bodyPr>
          <a:lstStyle/>
          <a:p>
            <a:pPr>
              <a:defRPr sz="1550" b="0">
                <a:solidFill>
                  <a:srgbClr val="DDF3EC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50" b="0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예비판단은 참고용이며 최종 지원 여부는 담당 기관과 지자체가 결정합니다</a:t>
            </a:r>
            <a:r>
              <a:rPr lang="en-US" altLang="ko-KR" sz="1550" b="0">
                <a:solidFill>
                  <a:srgbClr val="DDF3E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4271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463</Words>
  <Application>Microsoft Office PowerPoint</Application>
  <DocSecurity>0</DocSecurity>
  <PresentationFormat>와이드스크린</PresentationFormat>
  <Paragraphs>51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Malgun Gothic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내일을여는집 인천</cp:lastModifiedBy>
  <cp:revision>3</cp:revision>
  <dcterms:created xsi:type="dcterms:W3CDTF">2026-09-08T01:56:41Z</dcterms:created>
  <dcterms:modified xsi:type="dcterms:W3CDTF">2026-09-09T02:54:45Z</dcterms:modified>
</cp:coreProperties>
</file>