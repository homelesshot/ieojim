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1" r:id="rId4"/>
  </p:sldMasterIdLst>
  <p:notesMasterIdLst>
    <p:notesMasterId r:id="rId10"/>
  </p:notesMasterIdLst>
  <p:handoutMasterIdLst>
    <p:handoutMasterId r:id="rId11"/>
  </p:handoutMasterIdLst>
  <p:sldIdLst>
    <p:sldId id="441" r:id="rId5"/>
    <p:sldId id="440" r:id="rId6"/>
    <p:sldId id="444" r:id="rId22"/>
    <p:sldId id="445" r:id="rId23"/>
    <p:sldId id="446" r:id="rId24"/>
    <p:sldId id="447" r:id="rId25"/>
    <p:sldId id="448" r:id="rId26"/>
    <p:sldId id="449" r:id="rId27"/>
    <p:sldId id="450" r:id="rId28"/>
    <p:sldId id="451" r:id="rId29"/>
    <p:sldId id="452" r:id="rId30"/>
    <p:sldId id="268" r:id="rId9"/>
  </p:sldIdLst>
  <p:sldSz cx="12192000" cy="6858000"/>
  <p:notesSz cx="6858000" cy="9144000"/>
  <p:embeddedFontLst>
    <p:embeddedFont>
      <p:font typeface="맑은 고딕" panose="020B0503020000020004" pitchFamily="34" charset="-127"/>
      <p:regular r:id="rId12"/>
      <p:bold r:id="rId13"/>
    </p:embeddedFont>
    <p:embeddedFont>
      <p:font typeface="NanumSquare Neo OTF Light" panose="020B0604020202020204" charset="-127"/>
      <p:regular r:id="rId14"/>
    </p:embeddedFont>
    <p:embeddedFont>
      <p:font typeface="NanumSquare Neo OTF Regular" panose="020B0604020202020204" charset="-127"/>
      <p:regular r:id="rId15"/>
    </p:embeddedFont>
    <p:embeddedFont>
      <p:font typeface="Pretendard" panose="020B0604020202020204" charset="-127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C859"/>
    <a:srgbClr val="FF792C"/>
    <a:srgbClr val="262626"/>
    <a:srgbClr val="5C4AFF"/>
    <a:srgbClr val="F6F8FE"/>
    <a:srgbClr val="F5F8FD"/>
    <a:srgbClr val="9DA2C8"/>
    <a:srgbClr val="5C49FF"/>
    <a:srgbClr val="F4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6"/>
    <p:restoredTop sz="96192"/>
  </p:normalViewPr>
  <p:slideViewPr>
    <p:cSldViewPr snapToGrid="0">
      <p:cViewPr varScale="1">
        <p:scale>
          <a:sx n="95" d="100"/>
          <a:sy n="95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8B12E43-E23F-D335-B7AB-DAD1A639D1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5CB1C5-C502-4BC1-1EA3-A0442B695D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26386-F075-BD40-8C19-A2698694198E}" type="datetimeFigureOut">
              <a:rPr kumimoji="1" lang="ko-KR" altLang="en-US" smtClean="0"/>
              <a:t>2026-09-08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BB2854-D33A-6338-E773-62172DF55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A810BD-247C-1D40-3B03-C8984C9519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8E983-52DD-CA4F-912E-E9AD85274A5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8246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anumSquare Neo OTF Regular" pitchFamily="2" charset="-127"/>
                <a:ea typeface="NanumSquare Neo OTF Regular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anumSquare Neo OTF Regular" pitchFamily="2" charset="-127"/>
                <a:ea typeface="NanumSquare Neo OTF Regular" pitchFamily="2" charset="-127"/>
              </a:defRPr>
            </a:lvl1pPr>
          </a:lstStyle>
          <a:p>
            <a:fld id="{15BC202A-C38A-EF47-8039-23B82431CEA1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anumSquare Neo OTF Regular" pitchFamily="2" charset="-127"/>
                <a:ea typeface="NanumSquare Neo OTF Regular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anumSquare Neo OTF Regular" pitchFamily="2" charset="-127"/>
                <a:ea typeface="NanumSquare Neo OTF Regular" pitchFamily="2" charset="-127"/>
              </a:defRPr>
            </a:lvl1pPr>
          </a:lstStyle>
          <a:p>
            <a:fld id="{59A20A9E-2D66-3F45-BD12-92551B0C339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088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b="0" i="0" kern="1200">
        <a:solidFill>
          <a:schemeClr val="tx1"/>
        </a:solidFill>
        <a:latin typeface="NanumSquare Neo OTF Regular" pitchFamily="2" charset="-127"/>
        <a:ea typeface="NanumSquare Neo OTF Regular" pitchFamily="2" charset="-127"/>
        <a:cs typeface="+mn-cs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 err="1"/>
              <a:t>아웃트로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20A9E-2D66-3F45-BD12-92551B0C3399}" type="slidenum">
              <a:rPr kumimoji="1" lang="ko-KR" altLang="en-US" smtClean="0"/>
              <a:pPr/>
              <a:t>5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1459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8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4768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7774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045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369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329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9867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7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462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709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150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커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0220130-745A-9BE5-347B-191E0FDA4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30572"/>
            <a:ext cx="12192000" cy="8011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E0376D-8660-C36A-5D03-5A398FD47964}"/>
              </a:ext>
            </a:extLst>
          </p:cNvPr>
          <p:cNvSpPr txBox="1"/>
          <p:nvPr userDrawn="1"/>
        </p:nvSpPr>
        <p:spPr>
          <a:xfrm>
            <a:off x="511771" y="6316174"/>
            <a:ext cx="9068527" cy="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effectLst/>
                <a:latin typeface="NanumSquare Neo OTF Light" pitchFamily="2" charset="-127"/>
                <a:ea typeface="NanumSquare Neo OTF Light" pitchFamily="2" charset="-127"/>
              </a:rPr>
              <a:t>© </a:t>
            </a:r>
            <a:r>
              <a:rPr lang="en-US" altLang="ko-KR" sz="800" dirty="0">
                <a:solidFill>
                  <a:schemeClr val="tx1"/>
                </a:solidFill>
                <a:latin typeface="NanumSquare Neo OTF Light" pitchFamily="2" charset="-127"/>
                <a:ea typeface="NanumSquare Neo OTF Light" pitchFamily="2" charset="-127"/>
              </a:rPr>
              <a:t>NAVER Connect Foundation. All Rights Reserved.</a:t>
            </a:r>
            <a:endParaRPr lang="ko-KR" altLang="en-US" sz="800" dirty="0">
              <a:solidFill>
                <a:schemeClr val="tx1"/>
              </a:solidFill>
              <a:effectLst/>
              <a:latin typeface="NanumSquare Neo OTF Light" pitchFamily="2" charset="-127"/>
              <a:ea typeface="NanumSquare Neo OTF Light" pitchFamily="2" charset="-127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AFC3AC67-7145-0DBF-EF00-03210F9B50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800" y="1184401"/>
            <a:ext cx="9182100" cy="1419632"/>
          </a:xfrm>
        </p:spPr>
        <p:txBody>
          <a:bodyPr>
            <a:normAutofit/>
          </a:bodyPr>
          <a:lstStyle>
            <a:lvl1pPr marL="0" indent="0">
              <a:buNone/>
              <a:defRPr sz="4800" b="1" i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제목을 입력</a:t>
            </a:r>
            <a:r>
              <a:rPr kumimoji="1" lang="en-US" altLang="ko-KR" dirty="0"/>
              <a:t>(</a:t>
            </a:r>
            <a:r>
              <a:rPr kumimoji="1" lang="ko-KR" altLang="en-US" dirty="0"/>
              <a:t>최대 두 줄</a:t>
            </a:r>
            <a:r>
              <a:rPr kumimoji="1" lang="en-US" altLang="ko-KR" dirty="0"/>
              <a:t>)</a:t>
            </a:r>
            <a:br>
              <a:rPr kumimoji="1" lang="en-US" altLang="ko-KR" dirty="0"/>
            </a:br>
            <a:r>
              <a:rPr kumimoji="1" lang="en-US" altLang="ko-KR" dirty="0" err="1"/>
              <a:t>Pretendard</a:t>
            </a:r>
            <a:r>
              <a:rPr kumimoji="1" lang="en-US" altLang="ko-KR" dirty="0"/>
              <a:t> B, 48pt</a:t>
            </a:r>
            <a:endParaRPr kumimoji="1"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DC8C2AC-35A4-3479-3773-36391BCF9D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800" y="2876608"/>
            <a:ext cx="7480300" cy="79752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 err="1"/>
              <a:t>팀명</a:t>
            </a:r>
            <a:r>
              <a:rPr kumimoji="1" lang="en-US" altLang="ko-KR" dirty="0"/>
              <a:t>:</a:t>
            </a:r>
          </a:p>
          <a:p>
            <a:pPr lvl="0"/>
            <a:r>
              <a:rPr kumimoji="1" lang="en-US" altLang="ko-KR" dirty="0"/>
              <a:t>AI </a:t>
            </a:r>
            <a:r>
              <a:rPr kumimoji="1" lang="ko-KR" altLang="en-US" dirty="0"/>
              <a:t>솔루션 명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lvl="0"/>
            <a:r>
              <a:rPr kumimoji="1" lang="en-US" altLang="ko-KR" dirty="0"/>
              <a:t>(</a:t>
            </a:r>
            <a:r>
              <a:rPr kumimoji="1" lang="ko-KR" altLang="en-US" dirty="0"/>
              <a:t>소속</a:t>
            </a:r>
            <a:r>
              <a:rPr kumimoji="1" lang="en-US" altLang="ko-KR" dirty="0"/>
              <a:t>,</a:t>
            </a:r>
            <a:r>
              <a:rPr kumimoji="1" lang="ko-KR" altLang="en-US" dirty="0"/>
              <a:t> 없으면 생략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Prerendard</a:t>
            </a:r>
            <a:r>
              <a:rPr kumimoji="1" lang="en-US" altLang="ko-KR" dirty="0"/>
              <a:t>, 18pt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8A74C5-57B5-6A6D-2254-F86F65C307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00" y="5931220"/>
            <a:ext cx="1819585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32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목차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6675E40-EEF1-02A6-024D-DACE01C971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487223"/>
            <a:ext cx="2790219" cy="630377"/>
          </a:xfrm>
          <a:noFill/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lang="en-US" sz="3600" b="1" i="0" kern="1200" dirty="0">
                <a:solidFill>
                  <a:srgbClr val="262626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" altLang="ko-KR" dirty="0"/>
              <a:t>Contents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40DE8-27F9-D97B-D9FF-637607E9E98D}"/>
              </a:ext>
            </a:extLst>
          </p:cNvPr>
          <p:cNvSpPr txBox="1"/>
          <p:nvPr userDrawn="1"/>
        </p:nvSpPr>
        <p:spPr>
          <a:xfrm>
            <a:off x="511771" y="6316174"/>
            <a:ext cx="9068527" cy="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effectLst/>
                <a:latin typeface="NanumSquare Neo OTF Light" pitchFamily="2" charset="-127"/>
                <a:ea typeface="NanumSquare Neo OTF Light" pitchFamily="2" charset="-127"/>
              </a:rPr>
              <a:t>© </a:t>
            </a:r>
            <a:r>
              <a:rPr lang="en-US" altLang="ko-KR" sz="800" dirty="0">
                <a:solidFill>
                  <a:schemeClr val="tx1"/>
                </a:solidFill>
                <a:latin typeface="NanumSquare Neo OTF Light" pitchFamily="2" charset="-127"/>
                <a:ea typeface="NanumSquare Neo OTF Light" pitchFamily="2" charset="-127"/>
              </a:rPr>
              <a:t>NAVER Connect Foundation. All Rights Reserved.</a:t>
            </a:r>
            <a:endParaRPr lang="ko-KR" altLang="en-US" sz="800" dirty="0">
              <a:solidFill>
                <a:schemeClr val="tx1"/>
              </a:solidFill>
              <a:effectLst/>
              <a:latin typeface="NanumSquare Neo OTF Light" pitchFamily="2" charset="-127"/>
              <a:ea typeface="NanumSquare Neo OTF Light" pitchFamily="2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E85C74B-47D8-2A26-C262-15BE40B4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33AF182E-8382-A6B4-6E65-E89D9A460C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28190" y="652463"/>
            <a:ext cx="452437" cy="338554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4C8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13" name="텍스트 개체 틀 11">
            <a:extLst>
              <a:ext uri="{FF2B5EF4-FFF2-40B4-BE49-F238E27FC236}">
                <a16:creationId xmlns:a16="http://schemas.microsoft.com/office/drawing/2014/main" id="{B91187FB-E500-99D8-8F26-B9CF81E77F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7020" y="639763"/>
            <a:ext cx="3945207" cy="40011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주제 </a:t>
            </a:r>
            <a:r>
              <a:rPr kumimoji="1" lang="en-US" altLang="ko-KR" dirty="0"/>
              <a:t>B, 22pt</a:t>
            </a:r>
            <a:endParaRPr kumimoji="1" lang="ko-KR" altLang="en-US" dirty="0"/>
          </a:p>
        </p:txBody>
      </p:sp>
      <p:sp>
        <p:nvSpPr>
          <p:cNvPr id="14" name="텍스트 개체 틀 11">
            <a:extLst>
              <a:ext uri="{FF2B5EF4-FFF2-40B4-BE49-F238E27FC236}">
                <a16:creationId xmlns:a16="http://schemas.microsoft.com/office/drawing/2014/main" id="{5C1DA345-5EB1-839A-CC6F-CF298FB704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0627" y="1049159"/>
            <a:ext cx="3945207" cy="4001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부연 설명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 L, 18</a:t>
            </a:r>
            <a:endParaRPr kumimoji="1" lang="ko-KR" altLang="en-US" dirty="0"/>
          </a:p>
        </p:txBody>
      </p:sp>
      <p:sp>
        <p:nvSpPr>
          <p:cNvPr id="15" name="텍스트 개체 틀 11">
            <a:extLst>
              <a:ext uri="{FF2B5EF4-FFF2-40B4-BE49-F238E27FC236}">
                <a16:creationId xmlns:a16="http://schemas.microsoft.com/office/drawing/2014/main" id="{0CC25A4C-9A46-992C-09C9-3AD150B9C8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61884" y="2112170"/>
            <a:ext cx="452437" cy="338554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4C8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16" name="텍스트 개체 틀 11">
            <a:extLst>
              <a:ext uri="{FF2B5EF4-FFF2-40B4-BE49-F238E27FC236}">
                <a16:creationId xmlns:a16="http://schemas.microsoft.com/office/drawing/2014/main" id="{717BD1EF-54E4-A48A-2D99-B6BC8B517F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0714" y="2099470"/>
            <a:ext cx="3945207" cy="40011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주제 </a:t>
            </a:r>
            <a:r>
              <a:rPr kumimoji="1" lang="en-US" altLang="ko-KR" dirty="0"/>
              <a:t>B, 22pt</a:t>
            </a:r>
            <a:endParaRPr kumimoji="1" lang="ko-KR" altLang="en-US" dirty="0"/>
          </a:p>
        </p:txBody>
      </p:sp>
      <p:sp>
        <p:nvSpPr>
          <p:cNvPr id="17" name="텍스트 개체 틀 11">
            <a:extLst>
              <a:ext uri="{FF2B5EF4-FFF2-40B4-BE49-F238E27FC236}">
                <a16:creationId xmlns:a16="http://schemas.microsoft.com/office/drawing/2014/main" id="{C592A40B-E3F4-F0B9-F8F3-AB0C6CB233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4321" y="2508866"/>
            <a:ext cx="3945207" cy="4001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부연 설명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 L, 18</a:t>
            </a:r>
            <a:endParaRPr kumimoji="1" lang="ko-KR" altLang="en-US" dirty="0"/>
          </a:p>
        </p:txBody>
      </p:sp>
      <p:sp>
        <p:nvSpPr>
          <p:cNvPr id="18" name="텍스트 개체 틀 11">
            <a:extLst>
              <a:ext uri="{FF2B5EF4-FFF2-40B4-BE49-F238E27FC236}">
                <a16:creationId xmlns:a16="http://schemas.microsoft.com/office/drawing/2014/main" id="{AB83EBA0-2C67-9C61-5739-99EC3BD7C2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61884" y="3633433"/>
            <a:ext cx="452437" cy="338554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4C8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01</a:t>
            </a:r>
            <a:endParaRPr kumimoji="1" lang="ko-KR" altLang="en-US" dirty="0"/>
          </a:p>
        </p:txBody>
      </p:sp>
      <p:sp>
        <p:nvSpPr>
          <p:cNvPr id="19" name="텍스트 개체 틀 11">
            <a:extLst>
              <a:ext uri="{FF2B5EF4-FFF2-40B4-BE49-F238E27FC236}">
                <a16:creationId xmlns:a16="http://schemas.microsoft.com/office/drawing/2014/main" id="{7EDB4341-984D-CF77-46C4-687689FF8D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0714" y="3620733"/>
            <a:ext cx="3945207" cy="400110"/>
          </a:xfrm>
        </p:spPr>
        <p:txBody>
          <a:bodyPr>
            <a:normAutofit/>
          </a:bodyPr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주제 </a:t>
            </a:r>
            <a:r>
              <a:rPr kumimoji="1" lang="en-US" altLang="ko-KR" dirty="0"/>
              <a:t>B, 22pt</a:t>
            </a:r>
            <a:endParaRPr kumimoji="1" lang="ko-KR" altLang="en-US" dirty="0"/>
          </a:p>
        </p:txBody>
      </p:sp>
      <p:sp>
        <p:nvSpPr>
          <p:cNvPr id="20" name="텍스트 개체 틀 11">
            <a:extLst>
              <a:ext uri="{FF2B5EF4-FFF2-40B4-BE49-F238E27FC236}">
                <a16:creationId xmlns:a16="http://schemas.microsoft.com/office/drawing/2014/main" id="{5AB15BA9-860D-339A-0C75-0F1C297F06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14321" y="4030129"/>
            <a:ext cx="3945207" cy="40011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부연 설명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 L, 18</a:t>
            </a:r>
            <a:endParaRPr kumimoji="1"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19B241D-2F7A-4956-0DD5-0D94734FEE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72600" y="0"/>
            <a:ext cx="28194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37E441F-ABC9-5482-1476-35A5559909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6800" y="5930744"/>
            <a:ext cx="1822554" cy="29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49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AAD4C1-6084-1360-82BA-3DF044E8CE4B}"/>
              </a:ext>
            </a:extLst>
          </p:cNvPr>
          <p:cNvSpPr txBox="1"/>
          <p:nvPr userDrawn="1"/>
        </p:nvSpPr>
        <p:spPr>
          <a:xfrm>
            <a:off x="511771" y="6316174"/>
            <a:ext cx="9068527" cy="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effectLst/>
                <a:latin typeface="NanumSquare Neo OTF Light" pitchFamily="2" charset="-127"/>
                <a:ea typeface="NanumSquare Neo OTF Light" pitchFamily="2" charset="-127"/>
              </a:rPr>
              <a:t>© </a:t>
            </a:r>
            <a:r>
              <a:rPr lang="en-US" altLang="ko-KR" sz="800" dirty="0">
                <a:solidFill>
                  <a:schemeClr val="tx1"/>
                </a:solidFill>
                <a:latin typeface="NanumSquare Neo OTF Light" pitchFamily="2" charset="-127"/>
                <a:ea typeface="NanumSquare Neo OTF Light" pitchFamily="2" charset="-127"/>
              </a:rPr>
              <a:t>NAVER Connect Foundation. All Rights Reserved.</a:t>
            </a:r>
            <a:endParaRPr lang="ko-KR" altLang="en-US" sz="800" dirty="0">
              <a:solidFill>
                <a:schemeClr val="tx1"/>
              </a:solidFill>
              <a:effectLst/>
              <a:latin typeface="NanumSquare Neo OTF Light" pitchFamily="2" charset="-127"/>
              <a:ea typeface="NanumSquare Neo OTF Light" pitchFamily="2" charset="-127"/>
            </a:endParaRPr>
          </a:p>
        </p:txBody>
      </p:sp>
      <p:sp>
        <p:nvSpPr>
          <p:cNvPr id="11" name="Google Shape;17;p2">
            <a:extLst>
              <a:ext uri="{FF2B5EF4-FFF2-40B4-BE49-F238E27FC236}">
                <a16:creationId xmlns:a16="http://schemas.microsoft.com/office/drawing/2014/main" id="{396B16A6-1B83-907F-C5B5-BA6D263B7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52584" y="6304236"/>
            <a:ext cx="510952" cy="35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DA02457-8C33-4ADA-BACF-0FB3F1BF6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566" y="651512"/>
            <a:ext cx="953378" cy="40011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rgbClr val="04C8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01-01</a:t>
            </a:r>
            <a:endParaRPr kumimoji="1"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5100AD4E-8918-C013-D073-B839E52CD1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4444" y="639832"/>
            <a:ext cx="5523756" cy="561089"/>
          </a:xfrm>
        </p:spPr>
        <p:txBody>
          <a:bodyPr>
            <a:noAutofit/>
          </a:bodyPr>
          <a:lstStyle>
            <a:lvl1pPr marL="0" indent="0">
              <a:buNone/>
              <a:defRPr sz="3000" b="1" i="0">
                <a:solidFill>
                  <a:schemeClr val="bg2">
                    <a:lumMod val="1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주제 </a:t>
            </a:r>
            <a:r>
              <a:rPr kumimoji="1" lang="en-US" altLang="ko-KR" dirty="0"/>
              <a:t>B, 30pt</a:t>
            </a:r>
            <a:endParaRPr kumimoji="1" lang="ko-KR" altLang="en-US" dirty="0"/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307C06D8-47A8-8C11-8817-5355E6A73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4444" y="1449049"/>
            <a:ext cx="9536956" cy="35718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AI </a:t>
            </a:r>
            <a:r>
              <a:rPr kumimoji="1" lang="ko-KR" altLang="en-US" dirty="0"/>
              <a:t>챌린지 해</a:t>
            </a:r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2349EFC8-22A1-E521-B985-2B85996360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64444" y="1965775"/>
            <a:ext cx="9536956" cy="337967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dirty="0"/>
              <a:t>네이버 </a:t>
            </a:r>
            <a:r>
              <a:rPr kumimoji="1" lang="ko-KR" altLang="en-US" dirty="0" err="1"/>
              <a:t>커넥트재단</a:t>
            </a:r>
            <a:r>
              <a:rPr kumimoji="1" lang="ko-KR" altLang="en-US" dirty="0"/>
              <a:t> </a:t>
            </a:r>
            <a:r>
              <a:rPr kumimoji="1" lang="en-US" altLang="ko-KR" dirty="0"/>
              <a:t>AI </a:t>
            </a:r>
            <a:r>
              <a:rPr kumimoji="1" lang="ko-KR" altLang="en-US" dirty="0"/>
              <a:t>챌린지 해는 현장의 문제를 가장 잘 아는 실무자가 </a:t>
            </a:r>
            <a:r>
              <a:rPr kumimoji="1" lang="en-US" altLang="ko-KR" dirty="0"/>
              <a:t>AI</a:t>
            </a:r>
            <a:r>
              <a:rPr kumimoji="1" lang="ko-KR" altLang="en-US" dirty="0"/>
              <a:t>로 직접 변화를 만들 수 있도록 지원합니다</a:t>
            </a:r>
            <a:r>
              <a:rPr kumimoji="1" lang="en-US" altLang="ko-KR" dirty="0"/>
              <a:t>.</a:t>
            </a:r>
            <a:br>
              <a:rPr kumimoji="1" lang="en-US" altLang="ko-KR" dirty="0"/>
            </a:br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CF6770-8710-2B50-091D-E4B63B9AD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800" y="5930744"/>
            <a:ext cx="1822554" cy="29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38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AAD4C1-6084-1360-82BA-3DF044E8CE4B}"/>
              </a:ext>
            </a:extLst>
          </p:cNvPr>
          <p:cNvSpPr txBox="1"/>
          <p:nvPr userDrawn="1"/>
        </p:nvSpPr>
        <p:spPr>
          <a:xfrm>
            <a:off x="511771" y="6316174"/>
            <a:ext cx="9068527" cy="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effectLst/>
                <a:latin typeface="NanumSquare Neo OTF Light" pitchFamily="2" charset="-127"/>
                <a:ea typeface="NanumSquare Neo OTF Light" pitchFamily="2" charset="-127"/>
              </a:rPr>
              <a:t>© </a:t>
            </a:r>
            <a:r>
              <a:rPr lang="en-US" altLang="ko-KR" sz="800" dirty="0">
                <a:solidFill>
                  <a:schemeClr val="tx1"/>
                </a:solidFill>
                <a:latin typeface="NanumSquare Neo OTF Light" pitchFamily="2" charset="-127"/>
                <a:ea typeface="NanumSquare Neo OTF Light" pitchFamily="2" charset="-127"/>
              </a:rPr>
              <a:t>NAVER Connect Foundation. All Rights Reserved.</a:t>
            </a:r>
            <a:endParaRPr lang="ko-KR" altLang="en-US" sz="800" dirty="0">
              <a:solidFill>
                <a:schemeClr val="tx1"/>
              </a:solidFill>
              <a:effectLst/>
              <a:latin typeface="NanumSquare Neo OTF Light" pitchFamily="2" charset="-127"/>
              <a:ea typeface="NanumSquare Neo OTF Light" pitchFamily="2" charset="-127"/>
            </a:endParaRPr>
          </a:p>
        </p:txBody>
      </p:sp>
      <p:sp>
        <p:nvSpPr>
          <p:cNvPr id="11" name="Google Shape;17;p2">
            <a:extLst>
              <a:ext uri="{FF2B5EF4-FFF2-40B4-BE49-F238E27FC236}">
                <a16:creationId xmlns:a16="http://schemas.microsoft.com/office/drawing/2014/main" id="{396B16A6-1B83-907F-C5B5-BA6D263B7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52584" y="6304236"/>
            <a:ext cx="510952" cy="35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CF6770-8710-2B50-091D-E4B63B9ADB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800" y="5930744"/>
            <a:ext cx="1822554" cy="29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27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본문 이미지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AAD4C1-6084-1360-82BA-3DF044E8CE4B}"/>
              </a:ext>
            </a:extLst>
          </p:cNvPr>
          <p:cNvSpPr txBox="1"/>
          <p:nvPr userDrawn="1"/>
        </p:nvSpPr>
        <p:spPr>
          <a:xfrm>
            <a:off x="511771" y="6316174"/>
            <a:ext cx="9068527" cy="19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  <a:effectLst/>
                <a:latin typeface="NanumSquare Neo OTF Light" pitchFamily="2" charset="-127"/>
                <a:ea typeface="NanumSquare Neo OTF Light" pitchFamily="2" charset="-127"/>
              </a:rPr>
              <a:t>© </a:t>
            </a:r>
            <a:r>
              <a:rPr lang="en-US" altLang="ko-KR" sz="800" dirty="0">
                <a:solidFill>
                  <a:schemeClr val="tx1"/>
                </a:solidFill>
                <a:latin typeface="NanumSquare Neo OTF Light" pitchFamily="2" charset="-127"/>
                <a:ea typeface="NanumSquare Neo OTF Light" pitchFamily="2" charset="-127"/>
              </a:rPr>
              <a:t>NAVER Connect Foundation. All Rights Reserved.</a:t>
            </a:r>
            <a:endParaRPr lang="ko-KR" altLang="en-US" sz="800" dirty="0">
              <a:solidFill>
                <a:schemeClr val="tx1"/>
              </a:solidFill>
              <a:effectLst/>
              <a:latin typeface="NanumSquare Neo OTF Light" pitchFamily="2" charset="-127"/>
              <a:ea typeface="NanumSquare Neo OTF Light" pitchFamily="2" charset="-127"/>
            </a:endParaRPr>
          </a:p>
        </p:txBody>
      </p:sp>
      <p:sp>
        <p:nvSpPr>
          <p:cNvPr id="11" name="Google Shape;17;p2">
            <a:extLst>
              <a:ext uri="{FF2B5EF4-FFF2-40B4-BE49-F238E27FC236}">
                <a16:creationId xmlns:a16="http://schemas.microsoft.com/office/drawing/2014/main" id="{396B16A6-1B83-907F-C5B5-BA6D263B72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52584" y="6304236"/>
            <a:ext cx="510952" cy="35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4DA02457-8C33-4ADA-BACF-0FB3F1BF6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566" y="651512"/>
            <a:ext cx="953378" cy="40011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rgbClr val="04C85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01-01</a:t>
            </a:r>
            <a:endParaRPr kumimoji="1"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5100AD4E-8918-C013-D073-B839E52CD1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4444" y="639832"/>
            <a:ext cx="5523756" cy="561089"/>
          </a:xfrm>
        </p:spPr>
        <p:txBody>
          <a:bodyPr>
            <a:noAutofit/>
          </a:bodyPr>
          <a:lstStyle>
            <a:lvl1pPr marL="0" indent="0">
              <a:buNone/>
              <a:defRPr sz="3000" b="1" i="0">
                <a:solidFill>
                  <a:schemeClr val="bg2">
                    <a:lumMod val="1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주제 </a:t>
            </a:r>
            <a:r>
              <a:rPr kumimoji="1" lang="en-US" altLang="ko-KR" dirty="0"/>
              <a:t>B, 30pt</a:t>
            </a:r>
            <a:endParaRPr kumimoji="1" lang="ko-KR" altLang="en-US" dirty="0"/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307C06D8-47A8-8C11-8817-5355E6A73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03044" y="1449049"/>
            <a:ext cx="5714256" cy="357185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AI </a:t>
            </a:r>
            <a:r>
              <a:rPr kumimoji="1" lang="ko-KR" altLang="en-US" dirty="0"/>
              <a:t>한 번도 써본 적 없어도 괜찮습니다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2349EFC8-22A1-E521-B985-2B85996360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03044" y="1965775"/>
            <a:ext cx="5714256" cy="3379676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dirty="0"/>
              <a:t>네이버 </a:t>
            </a:r>
            <a:r>
              <a:rPr kumimoji="1" lang="ko-KR" altLang="en-US" dirty="0" err="1"/>
              <a:t>커넥트재단</a:t>
            </a:r>
            <a:r>
              <a:rPr kumimoji="1" lang="ko-KR" altLang="en-US" dirty="0"/>
              <a:t> </a:t>
            </a:r>
            <a:r>
              <a:rPr kumimoji="1" lang="en-US" altLang="ko-KR" dirty="0"/>
              <a:t>AI </a:t>
            </a:r>
            <a:r>
              <a:rPr kumimoji="1" lang="ko-KR" altLang="en-US" dirty="0" err="1"/>
              <a:t>챌린지</a:t>
            </a:r>
            <a:r>
              <a:rPr kumimoji="1" lang="ko-KR" altLang="en-US" dirty="0"/>
              <a:t> 해는 현장의 문제를 가장 잘 아는 실무자가 </a:t>
            </a:r>
            <a:r>
              <a:rPr kumimoji="1" lang="en-US" altLang="ko-KR" dirty="0"/>
              <a:t>AI</a:t>
            </a:r>
            <a:r>
              <a:rPr kumimoji="1" lang="ko-KR" altLang="en-US" dirty="0"/>
              <a:t>로 직접 변화를 만들 수 있도록 지원합니다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16EBE6AD-8A3C-9AB2-FD56-C16BF43538C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4700" y="1449388"/>
            <a:ext cx="4686300" cy="3895725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C31A8B-8314-F2C6-3C39-2793A021B3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6800" y="5930744"/>
            <a:ext cx="1822554" cy="29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915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EEF21-C4B7-F040-8F8C-F1819FC99ED3}" type="datetimeFigureOut">
              <a:rPr kumimoji="1" lang="ko-KR" altLang="en-US" smtClean="0"/>
              <a:pPr/>
              <a:t>2026-09-08</a:t>
            </a:fld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09D06-9013-4D41-AFF0-6D200D36E41E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044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704" r:id="rId12"/>
    <p:sldLayoutId id="2147483695" r:id="rId13"/>
    <p:sldLayoutId id="2147483702" r:id="rId14"/>
    <p:sldLayoutId id="2147483705" r:id="rId15"/>
    <p:sldLayoutId id="2147483703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C1BCF3-7695-B7FA-50EF-A8794DFE23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이어짐 — 위기가구 긴급복지 상담 도우미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DEC969-2D92-C71D-261A-A07C41F39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/>
            <a:r>
              <a:rPr lang="ko-KR" dirty="0"/>
              <a:t>녹음 한 번으로, 예비판단부터 상담일지 초안까지</a:t>
            </a:r>
            <a:br>
              <a:rPr lang="ko-KR" dirty="0"/>
            </a:br>
            <a:r>
              <a:rPr lang="ko-KR" dirty="0"/>
              <a:t>AI 챌린지 해 본선 발표 · 사단법인 인천내일을여는집 · 발표자 구흥모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19588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13E31-3E92-FE12-272E-5996147D3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0D1C03-2591-BF4D-F4C5-B5B3F9C2B4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765689-3DBB-2B11-73A9-2A9EA537CC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문제와 해결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CD98FF-4738-D70F-3758-0AB9AE9A3A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이중기록에 시달리는 현장, 이어짐은 무엇을 하는가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2B8ED3-0D1F-5842-F210-F9E03808E2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5C54EAF-1D9E-77A3-E741-ABCE575F11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현장 변화와 문제 해결 근거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CA057B1-4C2F-E4C7-6C6C-29617AA400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실제 도입 전후 수치와 실무자 정성 피드백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56E439B-0829-3ED6-B595-9F2D65CD3F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5E7F3E6-183C-4226-8DDA-A5826851A1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완성도·임팩트·정직한 한계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381A819-236D-67F1-46D0-EE52D0671A4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AI 활용 방식, 확산 가능성, 그리고 아직 못 채운 부분</a:t>
            </a:r>
          </a:p>
        </p:txBody>
      </p:sp>
    </p:spTree>
    <p:extLst>
      <p:ext uri="{BB962C8B-B14F-4D97-AF65-F5344CB8AC3E}">
        <p14:creationId xmlns:p14="http://schemas.microsoft.com/office/powerpoint/2010/main" val="381649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D62173-3859-3E75-2897-29546E43BA14}"/>
              </a:ext>
            </a:extLst>
          </p:cNvPr>
          <p:cNvSpPr txBox="1">
            <a:spLocks/>
          </p:cNvSpPr>
          <p:nvPr/>
        </p:nvSpPr>
        <p:spPr>
          <a:xfrm>
            <a:off x="683506" y="1667861"/>
            <a:ext cx="8640960" cy="7492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500" kern="1200" spc="-200" baseline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NanumBarunGothicOTF" charset="-127"/>
                <a:ea typeface="NanumBarunGothicOTF" charset="-127"/>
                <a:cs typeface="NanumBarunGothicOTF" charset="-127"/>
              </a:defRPr>
            </a:lvl1pPr>
          </a:lstStyle>
          <a:p>
            <a:r>
              <a:rPr lang="ko-KR" altLang="en-US" sz="4400" b="1" i="0" spc="-15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현장을 잘 아는 사람이</a:t>
            </a:r>
            <a:endParaRPr lang="en-US" altLang="ko-KR" sz="4400" b="1" i="0" spc="-15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4400" b="1" spc="-15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lang="ko-KR" altLang="en-US" sz="4400" b="1" spc="-15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변화를 만듭니다</a:t>
            </a:r>
            <a:r>
              <a:rPr lang="en-US" altLang="ko-KR" sz="4400" b="1" spc="-15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4400" b="1" i="0" spc="-15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656738-DEB1-5C8E-1A5F-34485B25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490" b="-4423"/>
          <a:stretch>
            <a:fillRect/>
          </a:stretch>
        </p:blipFill>
        <p:spPr>
          <a:xfrm>
            <a:off x="726458" y="900747"/>
            <a:ext cx="6675175" cy="52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496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01-01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현장 상담원은 왜 이중기록에 시달릴까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거리 아웃리치·쪽방 상담의 반복된 문제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상담 1건에 평균 약 22분 — 종이 3.2분 + 컴퓨터 재입력 12.0분 + 서류 6.8분</a:t>
            </a:r>
            <a:br>
              <a:rPr lang="ko-KR" dirty="0"/>
            </a:br>
            <a:r>
              <a:rPr lang="ko-KR" dirty="0"/>
              <a:t>재입력 12분이 가장 큰 낭비 지점</a:t>
            </a:r>
            <a:br>
              <a:rPr lang="ko-KR" dirty="0"/>
            </a:br>
            <a:r>
              <a:rPr lang="ko-KR" dirty="0"/>
              <a:t>시간·전문성 부족으로 공적 지원 연계율 약 3%(39건 중 1건)</a:t>
            </a:r>
            <a:br>
              <a:rPr lang="ko-KR" dirty="0"/>
            </a:br>
            <a:r>
              <a:rPr lang="ko-KR" dirty="0"/>
              <a:t>신규·비전문 직원은 1건 판단에 약 40분 — 긴급복지 기준이 복잡해 진입장벽이 큼</a:t>
            </a:r>
            <a:br>
              <a:rPr lang="ko-KR" dirty="0"/>
            </a:br>
            <a:r>
              <a:rPr lang="ko-KR" dirty="0"/>
              <a:t>→ 현장의 판단·기록·연계를 한 번에 돕는 도구가 없다는 것이 핵심 문제</a:t>
            </a:r>
            <a:endParaRPr 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01-02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이어짐: 녹음 한 번으로 예비판단부터 상담일지까지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상담원의 작업을 '녹음 버튼 + 확인'으로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현장에서 휴대폰으로 녹음(또는 타이핑)</a:t>
            </a:r>
            <a:br>
              <a:rPr lang="ko-KR" dirty="0"/>
            </a:br>
            <a:r>
              <a:rPr lang="ko-KR" dirty="0"/>
              <a:t>AI가 위기사유·거주·소득·재산·건강 등 항목을 자동 추출·정리</a:t>
            </a:r>
            <a:br>
              <a:rPr lang="ko-KR" dirty="0"/>
            </a:br>
            <a:r>
              <a:rPr lang="ko-KR" dirty="0"/>
              <a:t>확실한 항목은 자동 진행, 불확실한 항목만 상담원에게 확인 요청</a:t>
            </a:r>
            <a:br>
              <a:rPr lang="ko-KR" dirty="0"/>
            </a:br>
            <a:r>
              <a:rPr lang="ko-KR" dirty="0"/>
              <a:t>긴급복지 예비판단 → 지원 연계 안내 → 상담일지 초안(.hwpx)까지 한 번에 생성</a:t>
            </a:r>
            <a:br>
              <a:rPr lang="ko-KR" dirty="0"/>
            </a:br>
            <a:r>
              <a:rPr lang="ko-KR" dirty="0"/>
              <a:t>로그인 없이도 판단·문서 생성 100% 동작(저장·이어하기만 로그인 필요)</a:t>
            </a:r>
            <a:endParaRPr lang="ko-K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01-03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AI를 어떻게, 왜 썼는가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음성부터 문서까지 이어지는 AI 파이프라인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음성 인식: OpenAI whisper-1(한국어 강제)</a:t>
            </a:r>
            <a:br>
              <a:rPr lang="ko-KR" dirty="0"/>
            </a:br>
            <a:r>
              <a:rPr lang="ko-KR" dirty="0"/>
              <a:t>항목 자동추출: gpt-4o, Structured Outputs(JSON Schema strict)</a:t>
            </a:r>
            <a:br>
              <a:rPr lang="ko-KR" dirty="0"/>
            </a:br>
            <a:r>
              <a:rPr lang="ko-KR" dirty="0"/>
              <a:t>상담일지 문장 다듬기: gpt-4o-mini</a:t>
            </a:r>
            <a:br>
              <a:rPr lang="ko-KR" dirty="0"/>
            </a:br>
            <a:r>
              <a:rPr lang="ko-KR" dirty="0"/>
              <a:t>쓴 이유: 사람이 일일이 입력·재기록하던 것을 '말하면 정리되는' 방식으로 바꿔 이중기록을 없애기 위해</a:t>
            </a:r>
            <a:br>
              <a:rPr lang="ko-KR" dirty="0"/>
            </a:br>
            <a:r>
              <a:rPr lang="ko-KR" dirty="0"/>
              <a:t>AI가 없었다면: 비정형 상담 대화에서 필요한 항목만 뽑아 구조화하는 일이 규칙 기반으로는 한계가 큼</a:t>
            </a:r>
            <a:endParaRPr lang="ko-K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01-04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오류를 스스로 찾아 고친 과정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가상 케이스 71건 자체검증(QA) + 프롬프트 개선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단순 JSON 지시 → Structured Outputs 전환으로 필드 누락 문제 해결</a:t>
            </a:r>
            <a:br>
              <a:rPr lang="ko-KR" dirty="0"/>
            </a:br>
            <a:r>
              <a:rPr lang="ko-KR" dirty="0"/>
              <a:t>대용량·특이 코덱 음성파일의 STT 거부 → WAV 재인코딩·분할 업로드로 우회</a:t>
            </a:r>
            <a:br>
              <a:rPr lang="ko-KR" dirty="0"/>
            </a:br>
            <a:r>
              <a:rPr lang="ko-KR" dirty="0"/>
              <a:t>가상 인터뷰 71건을 실제 추출 로직으로 실행한 뒤 사람이 원문과 한 건씩 대조</a:t>
            </a:r>
            <a:br>
              <a:rPr lang="ko-KR" dirty="0"/>
            </a:br>
            <a:r>
              <a:rPr lang="ko-KR" dirty="0"/>
              <a:t>'근거 없이 지어낸 값', '받을 돈을 빚으로 반대 기재' 같은 오류 패턴을 찾아 프롬프트에 반영</a:t>
            </a:r>
            <a:br>
              <a:rPr lang="ko-KR" dirty="0"/>
            </a:br>
            <a:r>
              <a:rPr lang="ko-KR" dirty="0"/>
              <a:t>최근에도 실제 상담 녹음에서 새 오류 유형을 발견·수정(2026-09-17) — 검증은 계속 진행 중</a:t>
            </a:r>
            <a:endParaRPr lang="ko-K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02-01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현장은 실제로 바뀌었나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실사용 4건 — 처리시간 단축과 실무자 정성 후기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핵심 도메인(거리 아웃리치) 2건 + 타분야(노인복지 등) 2건의 초기 실사용 피드백 확보</a:t>
            </a:r>
            <a:br>
              <a:rPr lang="ko-KR" dirty="0"/>
            </a:br>
            <a:r>
              <a:rPr lang="ko-KR" dirty="0"/>
              <a:t>처리시간(자기보고): 60분→1분 · 40분→20분 · 27분→5분 · 10분→5분</a:t>
            </a:r>
            <a:br>
              <a:rPr lang="ko-KR" dirty="0"/>
            </a:br>
            <a:r>
              <a:rPr lang="ko-KR" dirty="0"/>
              <a:t>업무 부담 체감: '훨씬 줄었다' / '감소'</a:t>
            </a:r>
            <a:br>
              <a:rPr lang="ko-KR" dirty="0"/>
            </a:br>
            <a:r>
              <a:rPr lang="ko-KR" dirty="0"/>
              <a:t>실무자 후기(비식별): '자료취합을 한눈에 볼 수 있게 정리됨', '민감정보를 프로그램이 자체 필터링해 실수 부담까지 덜어준다'</a:t>
            </a:r>
            <a:br>
              <a:rPr lang="ko-KR" dirty="0"/>
            </a:br>
            <a:r>
              <a:rPr lang="ko-KR" dirty="0"/>
              <a:t>공적 연계율: 실사용 기간이 아직 짧아 비교 가능한 비율은 더 누적된 뒤 산출 예정</a:t>
            </a:r>
            <a:endParaRPr lang="ko-K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02-02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처음 정의한 문제, 얼마나 줄었나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도입 전(baseline) → 도입 후 — 4건 모두 단축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사례 A: 약 60분 → 약 1분</a:t>
            </a:r>
            <a:br>
              <a:rPr lang="ko-KR" dirty="0"/>
            </a:br>
            <a:r>
              <a:rPr lang="ko-KR" dirty="0"/>
              <a:t>사례 B: 약 40분 → 약 20분</a:t>
            </a:r>
            <a:br>
              <a:rPr lang="ko-KR" dirty="0"/>
            </a:br>
            <a:r>
              <a:rPr lang="ko-KR" dirty="0"/>
              <a:t>사례 C: 약 27분 → 약 5분</a:t>
            </a:r>
            <a:br>
              <a:rPr lang="ko-KR" dirty="0"/>
            </a:br>
            <a:r>
              <a:rPr lang="ko-KR" dirty="0"/>
              <a:t>사례 D: 약 10분 → 약 5분</a:t>
            </a:r>
            <a:br>
              <a:rPr lang="ko-KR" dirty="0"/>
            </a:br>
            <a:r>
              <a:rPr lang="ko-KR" dirty="0"/>
              <a:t>공통적으로 재입력·서류작성 구간이 가장 크게 줄어듦</a:t>
            </a:r>
            <a:endParaRPr lang="ko-K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03-01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다른 기관도 가져다 쓸 수 있을까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파일 하나(HTML) + 전국 공통 법령 기반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도입 절차 6단계: 파일 확보 → Supabase 생성 → Edge Function 배포 → DB·RLS 설정 → 연결값 교체 → 정적 배포</a:t>
            </a:r>
            <a:br>
              <a:rPr lang="ko-KR" dirty="0"/>
            </a:br>
            <a:r>
              <a:rPr lang="ko-KR" dirty="0"/>
              <a:t>바꿀 항목: 기관명·상담일지 양식·대상자 유형·지역 기준·개인정보 처리방침·Supabase/OpenAI 키</a:t>
            </a:r>
            <a:br>
              <a:rPr lang="ko-KR" dirty="0"/>
            </a:br>
            <a:r>
              <a:rPr lang="ko-KR" dirty="0"/>
              <a:t>확산 가능 분야: 가정폭력 피해자 초기 인터뷰, 시니어 일자리·돌봄 상담, 푸드뱅크·무료급식소 스크리닝, 자활·쪽방 지원 등</a:t>
            </a:r>
            <a:br>
              <a:rPr lang="ko-KR" dirty="0"/>
            </a:br>
            <a:r>
              <a:rPr lang="ko-KR" dirty="0"/>
              <a:t>법인 산하 여러 시설(자활쉼터·쪽방상담소·가족상담소 등)로도 확산 기반 마련</a:t>
            </a:r>
            <a:endParaRPr lang="ko-K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03-02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정직하게 남겨둔 한계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완성을 주장하기보다, 남은 과제를 그대로 공개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결과는 '예비판단'일 뿐 — 최종 지원 여부는 담당 기관·지자체 심사</a:t>
            </a:r>
            <a:br>
              <a:rPr lang="ko-KR" dirty="0"/>
            </a:br>
            <a:r>
              <a:rPr lang="ko-KR" dirty="0"/>
              <a:t>도입 후 정량 데이터는 아직 축적 중(표본 확대 필요)</a:t>
            </a:r>
            <a:br>
              <a:rPr lang="ko-KR" dirty="0"/>
            </a:br>
            <a:r>
              <a:rPr lang="ko-KR" dirty="0"/>
              <a:t>STT 우회 로직은 저전력 모바일 기기에서 안정성 재확인 필요</a:t>
            </a:r>
            <a:br>
              <a:rPr lang="ko-KR" dirty="0"/>
            </a:br>
            <a:r>
              <a:rPr lang="ko-KR" dirty="0"/>
              <a:t>AI 추출 프롬프트는 실사용하며 계속 조정 중 — 같은 유형 오류가 표현을 바꿔 재발한 전례 있음</a:t>
            </a:r>
            <a:br>
              <a:rPr lang="ko-KR" dirty="0"/>
            </a:br>
            <a:r>
              <a:rPr lang="ko-KR" dirty="0"/>
              <a:t>여러 상담원 응답을 모아 보는 관리자 검수 화면은 다음 단계 과제</a:t>
            </a:r>
            <a:endParaRPr lang="ko-K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03-03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함께 만든 사람들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사단법인 인천내일을여는집 법인사무국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 marL="0" indent="0"/>
            <a:r>
              <a:rPr lang="ko-KR" dirty="0"/>
              <a:t>구흥모(팀장) — AI 도구 세팅·운영 등 기술 실행, 발표</a:t>
            </a:r>
            <a:br>
              <a:rPr lang="ko-KR" dirty="0"/>
            </a:br>
            <a:r>
              <a:rPr lang="ko-KR" dirty="0"/>
              <a:t>김선희(팀원) — 기획, 프로토타입 개발, 문서·서류양식 정리</a:t>
            </a:r>
            <a:br>
              <a:rPr lang="ko-KR" dirty="0"/>
            </a:br>
            <a:r>
              <a:rPr lang="ko-KR" dirty="0"/>
              <a:t>두 사람 모두 기획·세팅·운영·문서 전반을 함께 수행하며 일부 역할을 나눔</a:t>
            </a:r>
            <a:br>
              <a:rPr lang="ko-KR" dirty="0"/>
            </a:br>
            <a:r>
              <a:rPr lang="ko-KR" dirty="0"/>
              <a:t>현장 실사용·측정은 거리 아웃리치 담당 사회복지사와 협력해 진행</a:t>
            </a:r>
            <a:endParaRPr 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4fd16a-14e6-4acd-a524-4ec21ece997c" xsi:nil="true"/>
    <lcf76f155ced4ddcb4097134ff3c332f xmlns="5544a56d-dedb-4523-95be-d881a79dcbc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07265F7B38DE546BF80DD6F26C8C4DF" ma:contentTypeVersion="16" ma:contentTypeDescription="새 문서를 만듭니다." ma:contentTypeScope="" ma:versionID="d74828be7b792cce165e64d722b54a16">
  <xsd:schema xmlns:xsd="http://www.w3.org/2001/XMLSchema" xmlns:xs="http://www.w3.org/2001/XMLSchema" xmlns:p="http://schemas.microsoft.com/office/2006/metadata/properties" xmlns:ns2="5544a56d-dedb-4523-95be-d881a79dcbcf" xmlns:ns3="c94fd16a-14e6-4acd-a524-4ec21ece997c" targetNamespace="http://schemas.microsoft.com/office/2006/metadata/properties" ma:root="true" ma:fieldsID="2c3ac601d3a40e2e2240a07dc03ec593" ns2:_="" ns3:_="">
    <xsd:import namespace="5544a56d-dedb-4523-95be-d881a79dcbcf"/>
    <xsd:import namespace="c94fd16a-14e6-4acd-a524-4ec21ece99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44a56d-dedb-4523-95be-d881a79dcb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8eb51bec-1483-4404-b2c8-6c41c91c00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fd16a-14e6-4acd-a524-4ec21ece997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a84d026-ee72-4bdd-abe0-84ad712fc325}" ma:internalName="TaxCatchAll" ma:showField="CatchAllData" ma:web="c94fd16a-14e6-4acd-a524-4ec21ece99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F481FE-6571-4CC8-BAB4-55C3B3E051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3D37B9-AEEA-4E49-9D2D-CDDC51C80CF3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c94fd16a-14e6-4acd-a524-4ec21ece997c"/>
    <ds:schemaRef ds:uri="http://purl.org/dc/terms/"/>
    <ds:schemaRef ds:uri="5544a56d-dedb-4523-95be-d881a79dcbcf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A596C1-56FD-40EF-9C18-2ACB6A6B64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44a56d-dedb-4523-95be-d881a79dcbcf"/>
    <ds:schemaRef ds:uri="c94fd16a-14e6-4acd-a524-4ec21ece99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15924</TotalTime>
  <Words>11</Words>
  <Application>Microsoft Office PowerPoint</Application>
  <PresentationFormat>와이드스크린</PresentationFormat>
  <Paragraphs>4</Paragraphs>
  <Slides>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김민수</cp:lastModifiedBy>
  <cp:revision>233</cp:revision>
  <dcterms:created xsi:type="dcterms:W3CDTF">2026-01-21T01:29:18Z</dcterms:created>
  <dcterms:modified xsi:type="dcterms:W3CDTF">2026-09-08T23:45:25Z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0x010100107265F7B38DE546BF80DD6F26C8C4DF</vt:lpwstr>
  </property>
</Properties>
</file>